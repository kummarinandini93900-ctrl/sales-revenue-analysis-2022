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ni\Downloads\Sales(Gold,Dimano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ni\Downloads\Sales(Gold,Dimanod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ni\Downloads\Sales(Gold,Dimano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ni\Downloads\Sales(Gold,Dimanod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ndini\Downloads\Sales(Gold,Dimanod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[Sales(Gold,Dimanod).xlsx]Sheet3!PivotTable3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Revenue by Client Category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000">
                    <a:lumMod val="65000"/>
                    <a:lumOff val="35000"/>
                  </a:srgbClr>
                </a:solidFill>
              </a:defRPr>
            </a:pPr>
            <a:endParaRPr lang="en-IN"/>
          </a:p>
        </c:rich>
      </c:tx>
      <c:layout>
        <c:manualLayout>
          <c:xMode val="edge"/>
          <c:yMode val="edge"/>
          <c:x val="0.26154855643044622"/>
          <c:y val="2.31481481481481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2B8-453A-9546-D6DCE5FF141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2B8-453A-9546-D6DCE5FF141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2B8-453A-9546-D6DCE5FF141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2B8-453A-9546-D6DCE5FF141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2B8-453A-9546-D6DCE5FF141B}"/>
              </c:ext>
            </c:extLst>
          </c:dPt>
          <c:cat>
            <c:strRef>
              <c:f>Sheet3!$A$4:$A$9</c:f>
              <c:strCache>
                <c:ptCount val="5"/>
                <c:pt idx="0">
                  <c:v>Bronze</c:v>
                </c:pt>
                <c:pt idx="1">
                  <c:v>Gold</c:v>
                </c:pt>
                <c:pt idx="2">
                  <c:v>Low Priority</c:v>
                </c:pt>
                <c:pt idx="3">
                  <c:v>Platinum</c:v>
                </c:pt>
                <c:pt idx="4">
                  <c:v>Silver</c:v>
                </c:pt>
              </c:strCache>
            </c:strRef>
          </c:cat>
          <c:val>
            <c:numRef>
              <c:f>Sheet3!$B$4:$B$9</c:f>
              <c:numCache>
                <c:formatCode>#,##0_);[Red]\(#,##0\);"-"</c:formatCode>
                <c:ptCount val="5"/>
                <c:pt idx="0">
                  <c:v>242721369</c:v>
                </c:pt>
                <c:pt idx="1">
                  <c:v>137636908</c:v>
                </c:pt>
                <c:pt idx="2">
                  <c:v>181322971</c:v>
                </c:pt>
                <c:pt idx="3">
                  <c:v>206568444</c:v>
                </c:pt>
                <c:pt idx="4">
                  <c:v>230473808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2B8-453A-9546-D6DCE5FF14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[Sales(Gold,Dimanod).xlsx]Sheet5!PivotTable5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Revenue by Country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000">
                    <a:lumMod val="65000"/>
                    <a:lumOff val="35000"/>
                  </a:srgbClr>
                </a:solidFill>
              </a:defRPr>
            </a:pP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Sheet5!$B$3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Sheet5!$A$4:$A$11</c:f>
              <c:strCache>
                <c:ptCount val="7"/>
                <c:pt idx="0">
                  <c:v>Korea</c:v>
                </c:pt>
                <c:pt idx="1">
                  <c:v>USA</c:v>
                </c:pt>
                <c:pt idx="2">
                  <c:v>Hong Kong</c:v>
                </c:pt>
                <c:pt idx="3">
                  <c:v>UK</c:v>
                </c:pt>
                <c:pt idx="4">
                  <c:v>India</c:v>
                </c:pt>
                <c:pt idx="5">
                  <c:v>China</c:v>
                </c:pt>
                <c:pt idx="6">
                  <c:v>Australia</c:v>
                </c:pt>
              </c:strCache>
            </c:strRef>
          </c:cat>
          <c:val>
            <c:numRef>
              <c:f>Sheet5!$B$4:$B$11</c:f>
              <c:numCache>
                <c:formatCode>#,##0_);[Red]\(#,##0\);"-"</c:formatCode>
                <c:ptCount val="7"/>
                <c:pt idx="0">
                  <c:v>144884285</c:v>
                </c:pt>
                <c:pt idx="1">
                  <c:v>143378820</c:v>
                </c:pt>
                <c:pt idx="2">
                  <c:v>142977259</c:v>
                </c:pt>
                <c:pt idx="3">
                  <c:v>142821445</c:v>
                </c:pt>
                <c:pt idx="4">
                  <c:v>142519285</c:v>
                </c:pt>
                <c:pt idx="5">
                  <c:v>141923229</c:v>
                </c:pt>
                <c:pt idx="6">
                  <c:v>140219177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1D-43CA-A45D-02B532B134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55427056"/>
        <c:axId val="1055432336"/>
      </c:barChart>
      <c:catAx>
        <c:axId val="10554270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432336"/>
        <c:crosses val="autoZero"/>
        <c:auto val="1"/>
        <c:lblAlgn val="ctr"/>
        <c:lblOffset val="100"/>
        <c:noMultiLvlLbl val="0"/>
      </c:catAx>
      <c:valAx>
        <c:axId val="1055432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427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[Sales(Gold,Dimanod).xlsx]Sheet4!PivotTable4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Top Products by Revenue</a:t>
            </a:r>
            <a:endParaRPr lang="en-IN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000">
                    <a:lumMod val="65000"/>
                    <a:lumOff val="35000"/>
                  </a:srgbClr>
                </a:solidFill>
              </a:defRPr>
            </a:pP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Sheet4!$A$4:$A$11</c:f>
              <c:strCache>
                <c:ptCount val="7"/>
                <c:pt idx="0">
                  <c:v>Product25</c:v>
                </c:pt>
                <c:pt idx="1">
                  <c:v>Product2</c:v>
                </c:pt>
                <c:pt idx="2">
                  <c:v>Product18</c:v>
                </c:pt>
                <c:pt idx="3">
                  <c:v>Product7</c:v>
                </c:pt>
                <c:pt idx="4">
                  <c:v>Product19</c:v>
                </c:pt>
                <c:pt idx="5">
                  <c:v>Product12</c:v>
                </c:pt>
                <c:pt idx="6">
                  <c:v>Product4</c:v>
                </c:pt>
              </c:strCache>
            </c:strRef>
          </c:cat>
          <c:val>
            <c:numRef>
              <c:f>Sheet4!$B$4:$B$11</c:f>
              <c:numCache>
                <c:formatCode>#,##0_);[Red]\(#,##0\);"-"</c:formatCode>
                <c:ptCount val="7"/>
                <c:pt idx="0">
                  <c:v>145822767</c:v>
                </c:pt>
                <c:pt idx="1">
                  <c:v>143939976</c:v>
                </c:pt>
                <c:pt idx="2">
                  <c:v>142850538</c:v>
                </c:pt>
                <c:pt idx="3">
                  <c:v>142288873</c:v>
                </c:pt>
                <c:pt idx="4">
                  <c:v>141871745</c:v>
                </c:pt>
                <c:pt idx="5">
                  <c:v>141711345</c:v>
                </c:pt>
                <c:pt idx="6">
                  <c:v>140238256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CA-4F12-9F20-6BD74B18A6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55430416"/>
        <c:axId val="1055437136"/>
      </c:barChart>
      <c:catAx>
        <c:axId val="1055430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437136"/>
        <c:crosses val="autoZero"/>
        <c:auto val="1"/>
        <c:lblAlgn val="ctr"/>
        <c:lblOffset val="100"/>
        <c:noMultiLvlLbl val="0"/>
      </c:catAx>
      <c:valAx>
        <c:axId val="1055437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430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[Sales(Gold,Dimanod).xlsx]Sheet8!PivotTable8</c:name>
    <c:fmtId val="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Sheet8!$A$3</c:f>
              <c:strCache>
                <c:ptCount val="1"/>
                <c:pt idx="0">
                  <c:v>Sum of Qtr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Sheet8!$A$4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Sheet8!$A$4</c:f>
              <c:numCache>
                <c:formatCode>#,##0_);[Red]\(#,##0\);"-"</c:formatCode>
                <c:ptCount val="1"/>
                <c:pt idx="0">
                  <c:v>250060041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F3-4D0B-A0E7-46C06E628265}"/>
            </c:ext>
          </c:extLst>
        </c:ser>
        <c:ser>
          <c:idx val="1"/>
          <c:order val="1"/>
          <c:tx>
            <c:strRef>
              <c:f>Sheet8!$B$3</c:f>
              <c:strCache>
                <c:ptCount val="1"/>
                <c:pt idx="0">
                  <c:v>Sum of Qtr 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Sheet8!$A$4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Sheet8!$B$4</c:f>
              <c:numCache>
                <c:formatCode>#,##0_);[Red]\(#,##0\);"-"</c:formatCode>
                <c:ptCount val="1"/>
                <c:pt idx="0">
                  <c:v>249109792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F3-4D0B-A0E7-46C06E628265}"/>
            </c:ext>
          </c:extLst>
        </c:ser>
        <c:ser>
          <c:idx val="2"/>
          <c:order val="2"/>
          <c:tx>
            <c:strRef>
              <c:f>Sheet8!$C$3</c:f>
              <c:strCache>
                <c:ptCount val="1"/>
                <c:pt idx="0">
                  <c:v>Sum of Qtr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Sheet8!$A$4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Sheet8!$C$4</c:f>
              <c:numCache>
                <c:formatCode>#,##0_);[Red]\(#,##0\);"-"</c:formatCode>
                <c:ptCount val="1"/>
                <c:pt idx="0">
                  <c:v>249389065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F3-4D0B-A0E7-46C06E628265}"/>
            </c:ext>
          </c:extLst>
        </c:ser>
        <c:ser>
          <c:idx val="3"/>
          <c:order val="3"/>
          <c:tx>
            <c:strRef>
              <c:f>Sheet8!$D$3</c:f>
              <c:strCache>
                <c:ptCount val="1"/>
                <c:pt idx="0">
                  <c:v>Sum of Qtr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Sheet8!$A$4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Sheet8!$D$4</c:f>
              <c:numCache>
                <c:formatCode>#,##0_);[Red]\(#,##0\);"-"</c:formatCode>
                <c:ptCount val="1"/>
                <c:pt idx="0">
                  <c:v>250164602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F3-4D0B-A0E7-46C06E6282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1114672"/>
        <c:axId val="1621115152"/>
      </c:barChart>
      <c:catAx>
        <c:axId val="1621114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1115152"/>
        <c:crosses val="autoZero"/>
        <c:auto val="1"/>
        <c:lblAlgn val="ctr"/>
        <c:lblOffset val="100"/>
        <c:noMultiLvlLbl val="0"/>
      </c:catAx>
      <c:valAx>
        <c:axId val="162111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1114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[Sales(Gold,Dimanod).xlsx]Sheet9!PivotTable9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Top 10 Clients by Revenue</a:t>
            </a:r>
            <a:r>
              <a:rPr lang="en-IN"/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000">
                    <a:lumMod val="65000"/>
                    <a:lumOff val="35000"/>
                  </a:srgbClr>
                </a:solidFill>
              </a:defRPr>
            </a:pP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000000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Sheet9!$B$3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Sheet9!$A$4:$A$14</c:f>
              <c:strCache>
                <c:ptCount val="10"/>
                <c:pt idx="0">
                  <c:v>FRANR</c:v>
                </c:pt>
                <c:pt idx="1">
                  <c:v>FURIB</c:v>
                </c:pt>
                <c:pt idx="2">
                  <c:v>PICCO</c:v>
                </c:pt>
                <c:pt idx="3">
                  <c:v>BLONP</c:v>
                </c:pt>
                <c:pt idx="4">
                  <c:v>HUNGC</c:v>
                </c:pt>
                <c:pt idx="5">
                  <c:v>LEHMS</c:v>
                </c:pt>
                <c:pt idx="6">
                  <c:v>FOLKO</c:v>
                </c:pt>
                <c:pt idx="7">
                  <c:v>CACTU</c:v>
                </c:pt>
                <c:pt idx="8">
                  <c:v>BONAP</c:v>
                </c:pt>
                <c:pt idx="9">
                  <c:v>WILMK</c:v>
                </c:pt>
              </c:strCache>
            </c:strRef>
          </c:cat>
          <c:val>
            <c:numRef>
              <c:f>Sheet9!$B$4:$B$14</c:f>
              <c:numCache>
                <c:formatCode>#,##0_);[Red]\(#,##0\);"-"</c:formatCode>
                <c:ptCount val="10"/>
                <c:pt idx="0">
                  <c:v>13695346</c:v>
                </c:pt>
                <c:pt idx="1">
                  <c:v>13543264</c:v>
                </c:pt>
                <c:pt idx="2">
                  <c:v>13534296</c:v>
                </c:pt>
                <c:pt idx="3">
                  <c:v>13466815</c:v>
                </c:pt>
                <c:pt idx="4">
                  <c:v>13442376</c:v>
                </c:pt>
                <c:pt idx="5">
                  <c:v>13375837</c:v>
                </c:pt>
                <c:pt idx="6">
                  <c:v>13337503</c:v>
                </c:pt>
                <c:pt idx="7">
                  <c:v>13335698</c:v>
                </c:pt>
                <c:pt idx="8">
                  <c:v>13261501</c:v>
                </c:pt>
                <c:pt idx="9">
                  <c:v>13258943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BB-442C-ABA6-114939E14A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1094512"/>
        <c:axId val="1621090192"/>
      </c:barChart>
      <c:catAx>
        <c:axId val="1621094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1090192"/>
        <c:crosses val="autoZero"/>
        <c:auto val="1"/>
        <c:lblAlgn val="ctr"/>
        <c:lblOffset val="100"/>
        <c:noMultiLvlLbl val="0"/>
      </c:catAx>
      <c:valAx>
        <c:axId val="1621090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1094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9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37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2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84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95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38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483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8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47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71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525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C9A2B-2C34-49E4-BB5B-296C4E24210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9406C-3A8E-453F-B7E9-1975F2A0E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2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9107-A2EB-3BFB-890E-697AC7E13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248" y="584518"/>
            <a:ext cx="9144000" cy="111791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Sales Revenue Analysis 2022</a:t>
            </a:r>
            <a:endParaRPr lang="en-IN" sz="3200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CECB5-3795-7738-FACD-2E8391C51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02536"/>
            <a:ext cx="9144000" cy="2852928"/>
          </a:xfrm>
        </p:spPr>
        <p:txBody>
          <a:bodyPr>
            <a:normAutofit fontScale="25000" lnSpcReduction="20000"/>
          </a:bodyPr>
          <a:lstStyle/>
          <a:p>
            <a:r>
              <a:rPr lang="en-IN" sz="7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Revenue Performance Analysis Across Products, Clients, Countries &amp; Categories</a:t>
            </a:r>
            <a:endParaRPr lang="en-IN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7200" b="1" dirty="0"/>
              <a:t>Prepared By:</a:t>
            </a:r>
            <a:br>
              <a:rPr lang="en-IN" sz="7200" dirty="0"/>
            </a:br>
            <a:r>
              <a:rPr lang="en-IN" sz="7200" dirty="0"/>
              <a:t>Nandini Bapanpalli</a:t>
            </a:r>
          </a:p>
          <a:p>
            <a:r>
              <a:rPr lang="en-IN" sz="7200" b="1" dirty="0"/>
              <a:t>Date:</a:t>
            </a:r>
            <a:br>
              <a:rPr lang="en-IN" sz="7200" dirty="0"/>
            </a:br>
            <a:r>
              <a:rPr lang="en-IN" sz="7200" dirty="0"/>
              <a:t>June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9374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0D5C-ADBA-62C1-9B5E-466CC42F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Dataset Overview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1A617-23A5-70AF-C8BB-40DB2629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sz="3200" b="1" dirty="0"/>
              <a:t>Objective</a:t>
            </a:r>
            <a:endParaRPr lang="en-IN" sz="3200" dirty="0"/>
          </a:p>
          <a:p>
            <a:r>
              <a:rPr lang="en-IN" sz="3200" dirty="0"/>
              <a:t>Analyse sales revenue performance across products, clients, countries, and client categories. </a:t>
            </a:r>
          </a:p>
          <a:p>
            <a:r>
              <a:rPr lang="en-IN" sz="3200" dirty="0"/>
              <a:t>Identify key business insights and revenue trends. </a:t>
            </a:r>
          </a:p>
          <a:p>
            <a:r>
              <a:rPr lang="en-IN" sz="3200" b="1" dirty="0"/>
              <a:t>Dataset Attributes</a:t>
            </a:r>
            <a:endParaRPr lang="en-IN" sz="3200" dirty="0"/>
          </a:p>
          <a:p>
            <a:r>
              <a:rPr lang="en-IN" sz="3200" dirty="0"/>
              <a:t>Product </a:t>
            </a:r>
          </a:p>
          <a:p>
            <a:r>
              <a:rPr lang="en-IN" sz="3200" dirty="0"/>
              <a:t>Client </a:t>
            </a:r>
          </a:p>
          <a:p>
            <a:r>
              <a:rPr lang="en-IN" sz="3200" dirty="0"/>
              <a:t>Client Category </a:t>
            </a:r>
          </a:p>
          <a:p>
            <a:r>
              <a:rPr lang="en-IN" sz="3200" dirty="0"/>
              <a:t>Product Country </a:t>
            </a:r>
          </a:p>
          <a:p>
            <a:r>
              <a:rPr lang="en-IN" sz="3200" dirty="0"/>
              <a:t>Quarterly Revenue (Q1, Q2, Q3, Q4) </a:t>
            </a:r>
          </a:p>
          <a:p>
            <a:r>
              <a:rPr lang="en-IN" sz="3200" dirty="0"/>
              <a:t>Total Revenue</a:t>
            </a:r>
          </a:p>
          <a:p>
            <a:pPr marL="0" indent="0">
              <a:buNone/>
            </a:pPr>
            <a:br>
              <a:rPr lang="en-IN" sz="3200" dirty="0"/>
            </a:br>
            <a:r>
              <a:rPr lang="en-IN" sz="3200" dirty="0"/>
              <a:t>                                                                                                                                                                                               Key Statistics</a:t>
            </a:r>
            <a:br>
              <a:rPr lang="en-IN" sz="3200" dirty="0"/>
            </a:br>
            <a:r>
              <a:rPr lang="en-IN" sz="3200" dirty="0"/>
              <a:t>                                                                                                                                                                                                ----------------</a:t>
            </a:r>
            <a:br>
              <a:rPr lang="en-IN" sz="3200" dirty="0"/>
            </a:br>
            <a:r>
              <a:rPr lang="en-IN" sz="3200" dirty="0"/>
              <a:t>                                                                                                                                                                                          Total Revenue: ₹99.87 Cr</a:t>
            </a:r>
            <a:br>
              <a:rPr lang="en-IN" sz="3200" dirty="0"/>
            </a:br>
            <a:r>
              <a:rPr lang="en-IN" sz="3200" dirty="0"/>
              <a:t>                                                                                                                                                                                          Countries: 7</a:t>
            </a:r>
            <a:br>
              <a:rPr lang="en-IN" sz="3200" dirty="0"/>
            </a:br>
            <a:r>
              <a:rPr lang="en-IN" sz="3200" dirty="0"/>
              <a:t>                                                                                                                                                                                          Categories: 5</a:t>
            </a:r>
            <a:br>
              <a:rPr lang="en-IN" sz="3200" dirty="0"/>
            </a:br>
            <a:r>
              <a:rPr lang="en-IN" sz="3200" dirty="0"/>
              <a:t>                                                                                                                                                                                          Products: 25</a:t>
            </a:r>
            <a:br>
              <a:rPr lang="en-IN" sz="3200" dirty="0"/>
            </a:br>
            <a:r>
              <a:rPr lang="en-IN" sz="3200" dirty="0"/>
              <a:t>                                                                                                                                                                                         Clients: 91</a:t>
            </a:r>
            <a:endParaRPr lang="en-IN" sz="3000" dirty="0"/>
          </a:p>
          <a:p>
            <a:pPr marL="0" indent="0" algn="r">
              <a:buNone/>
            </a:pPr>
            <a:endParaRPr lang="en-IN" sz="3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03555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81AD-F821-A098-C760-A6980148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Revenue by Client Category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E21F7-3417-3C8B-949C-23BE79AF2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Observation</a:t>
            </a:r>
          </a:p>
          <a:p>
            <a:r>
              <a:rPr lang="en-IN" sz="2400" b="1" dirty="0"/>
              <a:t>Key Findings</a:t>
            </a:r>
            <a:endParaRPr lang="en-IN" sz="2400" dirty="0"/>
          </a:p>
          <a:p>
            <a:r>
              <a:rPr lang="en-IN" sz="2400" dirty="0"/>
              <a:t>Bronze category generated the highest revenue (₹24.27 Cr). </a:t>
            </a:r>
          </a:p>
          <a:p>
            <a:r>
              <a:rPr lang="en-IN" sz="2400" dirty="0"/>
              <a:t>Gold category generated the lowest revenue (₹13.76 Cr). </a:t>
            </a:r>
          </a:p>
          <a:p>
            <a:r>
              <a:rPr lang="en-IN" sz="2400" dirty="0"/>
              <a:t>Bronze and Silver categories contribute nearly half of total revenue. </a:t>
            </a:r>
          </a:p>
          <a:p>
            <a:r>
              <a:rPr lang="en-IN" sz="2400" b="1" dirty="0"/>
              <a:t>Business Insight</a:t>
            </a:r>
            <a:endParaRPr lang="en-IN" sz="2400" dirty="0"/>
          </a:p>
          <a:p>
            <a:r>
              <a:rPr lang="en-IN" sz="2400" dirty="0"/>
              <a:t>Focus on retaining Bronze and Silver clients. </a:t>
            </a:r>
          </a:p>
          <a:p>
            <a:r>
              <a:rPr lang="en-IN" sz="2400" dirty="0"/>
              <a:t>Improve engagement with Gold category clients.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C8B1259-7B10-36A3-A7D9-84552A367E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236597"/>
              </p:ext>
            </p:extLst>
          </p:nvPr>
        </p:nvGraphicFramePr>
        <p:xfrm>
          <a:off x="6900672" y="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2626126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1124-E200-3CDD-78C2-BCD62C4D4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Revenue by Country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4AAE09F-2E40-98F6-8A65-8AC265F998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8233370"/>
              </p:ext>
            </p:extLst>
          </p:nvPr>
        </p:nvGraphicFramePr>
        <p:xfrm>
          <a:off x="329184" y="1389888"/>
          <a:ext cx="5907024" cy="4498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CF102F-1283-5C79-AEAF-57662F8BA0F7}"/>
              </a:ext>
            </a:extLst>
          </p:cNvPr>
          <p:cNvSpPr txBox="1"/>
          <p:nvPr/>
        </p:nvSpPr>
        <p:spPr>
          <a:xfrm>
            <a:off x="6236208" y="1330988"/>
            <a:ext cx="580110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Findings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Korea generated the highest revenue (₹14.49 Cr). 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Australia generated the lowest revenue (₹14.02 Cr).</a:t>
            </a:r>
            <a:br>
              <a:rPr lang="en-IN" dirty="0"/>
            </a:b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Revenue contribution is relatively balanced across countries. </a:t>
            </a:r>
          </a:p>
          <a:p>
            <a:pPr>
              <a:buNone/>
            </a:pPr>
            <a:r>
              <a:rPr lang="en-IN" b="1" dirty="0"/>
              <a:t>Business Insight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Replicate successful sales strategies from Korea. 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Explore growth opportunities in Australia.</a:t>
            </a:r>
          </a:p>
        </p:txBody>
      </p:sp>
    </p:spTree>
    <p:extLst>
      <p:ext uri="{BB962C8B-B14F-4D97-AF65-F5344CB8AC3E}">
        <p14:creationId xmlns:p14="http://schemas.microsoft.com/office/powerpoint/2010/main" val="324925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819F-4FD9-6426-60AE-1EFA1CA3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Top Products by Revenue</a:t>
            </a:r>
            <a:br>
              <a:rPr lang="en-IN" sz="3200" dirty="0"/>
            </a:br>
            <a:endParaRPr lang="en-IN" sz="32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FD9F34D-9A2F-CC52-4AE3-46D1D362EF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5965290"/>
              </p:ext>
            </p:extLst>
          </p:nvPr>
        </p:nvGraphicFramePr>
        <p:xfrm>
          <a:off x="338328" y="1161288"/>
          <a:ext cx="6245352" cy="4791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489456F-245E-9E77-9980-EA1E949EE507}"/>
              </a:ext>
            </a:extLst>
          </p:cNvPr>
          <p:cNvSpPr txBox="1"/>
          <p:nvPr/>
        </p:nvSpPr>
        <p:spPr>
          <a:xfrm>
            <a:off x="6583680" y="2064526"/>
            <a:ext cx="54955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Product25 generated the highest revenue (₹14.58 Cr). 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Product2 and Product18 also performed strongly.</a:t>
            </a:r>
            <a:br>
              <a:rPr lang="en-IN" dirty="0"/>
            </a:b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Revenue among top products is closely distributed. </a:t>
            </a:r>
          </a:p>
          <a:p>
            <a:pPr>
              <a:buNone/>
            </a:pPr>
            <a:r>
              <a:rPr lang="en-IN" b="1" dirty="0"/>
              <a:t>Business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Continue investing in high-performing products.</a:t>
            </a:r>
            <a:br>
              <a:rPr lang="en-IN" dirty="0"/>
            </a:b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Analyse factors driving Product25's success and replicate them across other products.</a:t>
            </a:r>
          </a:p>
        </p:txBody>
      </p:sp>
    </p:spTree>
    <p:extLst>
      <p:ext uri="{BB962C8B-B14F-4D97-AF65-F5344CB8AC3E}">
        <p14:creationId xmlns:p14="http://schemas.microsoft.com/office/powerpoint/2010/main" val="295219632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0E5B-C48C-6360-665F-F2A75938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Quarterly Revenue Trend</a:t>
            </a:r>
            <a:endParaRPr lang="en-IN" sz="32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52C9D84-508A-55EF-8B4B-CAC25B6EA2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2522819"/>
              </p:ext>
            </p:extLst>
          </p:nvPr>
        </p:nvGraphicFramePr>
        <p:xfrm>
          <a:off x="292608" y="1490472"/>
          <a:ext cx="5696712" cy="4425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FF623C-5593-FF53-31EA-B83B634B15AE}"/>
              </a:ext>
            </a:extLst>
          </p:cNvPr>
          <p:cNvSpPr txBox="1"/>
          <p:nvPr/>
        </p:nvSpPr>
        <p:spPr>
          <a:xfrm>
            <a:off x="6501384" y="1796671"/>
            <a:ext cx="55824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Q4 recorded the highest revenue (₹25.02 Cr). 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Q3 recorded the lowest revenue (₹24.91 Cr). 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Revenue remained stable across all four quarters.</a:t>
            </a:r>
            <a:br>
              <a:rPr lang="en-IN" dirty="0"/>
            </a:b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No major fluctuations were observed. </a:t>
            </a:r>
          </a:p>
          <a:p>
            <a:pPr>
              <a:buNone/>
            </a:pPr>
            <a:r>
              <a:rPr lang="en-IN" b="1" dirty="0"/>
              <a:t>Business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Consistent revenue indicates stable business performance.</a:t>
            </a:r>
            <a:br>
              <a:rPr lang="en-IN" dirty="0"/>
            </a:b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Q4 strategies can be analysed and replicated to improve future quarterly performance.</a:t>
            </a:r>
          </a:p>
        </p:txBody>
      </p:sp>
    </p:spTree>
    <p:extLst>
      <p:ext uri="{BB962C8B-B14F-4D97-AF65-F5344CB8AC3E}">
        <p14:creationId xmlns:p14="http://schemas.microsoft.com/office/powerpoint/2010/main" val="7450669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88C0-3125-CD72-6C0A-3A3B061D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Top Clients by Revenue</a:t>
            </a:r>
            <a:endParaRPr lang="en-IN" sz="36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1B6FEF2-5379-F674-314A-68EC1E58DE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0244809"/>
              </p:ext>
            </p:extLst>
          </p:nvPr>
        </p:nvGraphicFramePr>
        <p:xfrm>
          <a:off x="237744" y="1609343"/>
          <a:ext cx="5568696" cy="4883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D3E1DE-13EB-5A9D-86B5-5238018EE285}"/>
              </a:ext>
            </a:extLst>
          </p:cNvPr>
          <p:cNvSpPr txBox="1"/>
          <p:nvPr/>
        </p:nvSpPr>
        <p:spPr>
          <a:xfrm>
            <a:off x="5982462" y="1274124"/>
            <a:ext cx="60944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FRANR generated the highest revenue (₹1.37 Cr). 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FURIB and PICCO closely followed among the top clients.</a:t>
            </a:r>
            <a:br>
              <a:rPr lang="en-IN" dirty="0"/>
            </a:b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Revenue among top clients is fairly balanced, with no major gaps.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No single client contributes a significantly higher share of revenue. </a:t>
            </a:r>
          </a:p>
          <a:p>
            <a:pPr>
              <a:buNone/>
            </a:pPr>
            <a:r>
              <a:rPr lang="en-IN" b="1" dirty="0"/>
              <a:t>Business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Strengthen relationships with top-performing clients. </a:t>
            </a:r>
            <a:br>
              <a:rPr lang="en-IN" dirty="0"/>
            </a:b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Identify successful practices used with FRANR and apply them to other clients.</a:t>
            </a:r>
            <a:br>
              <a:rPr lang="en-IN" dirty="0"/>
            </a:b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Diversified client revenue reduces dependency risk.</a:t>
            </a:r>
          </a:p>
        </p:txBody>
      </p:sp>
    </p:spTree>
    <p:extLst>
      <p:ext uri="{BB962C8B-B14F-4D97-AF65-F5344CB8AC3E}">
        <p14:creationId xmlns:p14="http://schemas.microsoft.com/office/powerpoint/2010/main" val="2355865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F67A-C439-0AC0-B6DD-82207CA0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Business Recommendations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163AD-C58D-1243-1C10-F4B604D7A25F}"/>
              </a:ext>
            </a:extLst>
          </p:cNvPr>
          <p:cNvSpPr txBox="1"/>
          <p:nvPr/>
        </p:nvSpPr>
        <p:spPr>
          <a:xfrm>
            <a:off x="749808" y="2136338"/>
            <a:ext cx="74523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Strategic Recommendations</a:t>
            </a:r>
            <a:br>
              <a:rPr lang="en-IN" b="1" dirty="0"/>
            </a:br>
            <a:endParaRPr lang="en-IN" b="1" dirty="0"/>
          </a:p>
          <a:p>
            <a:r>
              <a:rPr lang="en-IN" dirty="0"/>
              <a:t>• Focus on retaining Bronze and Silver category clients.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Improve engagement and sales initiatives for Gold category clients.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Replicate successful sales strategies from Korea in other countries.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Continue investment in high-performing products such as Product25.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Strengthen relationships with top revenue-generating clients.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Maintain quarterly revenue stability while identifying growth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22094917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7DCE-6846-E08A-E3E4-C663A646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4ECDC-8E8D-CF49-62DA-F8BACD2AE09D}"/>
              </a:ext>
            </a:extLst>
          </p:cNvPr>
          <p:cNvSpPr txBox="1"/>
          <p:nvPr/>
        </p:nvSpPr>
        <p:spPr>
          <a:xfrm>
            <a:off x="2404872" y="1802028"/>
            <a:ext cx="63367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Summary of Findings</a:t>
            </a:r>
            <a:br>
              <a:rPr lang="en-IN" b="1" dirty="0"/>
            </a:br>
            <a:endParaRPr lang="en-IN" b="1" dirty="0"/>
          </a:p>
          <a:p>
            <a:r>
              <a:rPr lang="en-IN" dirty="0"/>
              <a:t>• Total Revenue generated: ₹99.87 Cr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Korea recorded the highest country-wise revenue.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Bronze category contributed the highest revenue.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Product25 emerged as the top-performing product.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Revenue remained stable across all four quarters.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Client revenue distribution is diversified and balanced.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2525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E2EDF0-084A-12EF-7EB5-41E34A665F6B}"/>
              </a:ext>
            </a:extLst>
          </p:cNvPr>
          <p:cNvSpPr txBox="1"/>
          <p:nvPr/>
        </p:nvSpPr>
        <p:spPr>
          <a:xfrm>
            <a:off x="4629150" y="2549390"/>
            <a:ext cx="33444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Thank You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86433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770</TotalTime>
  <Words>589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Sales Revenue Analysis 2022</vt:lpstr>
      <vt:lpstr>Dataset Overview </vt:lpstr>
      <vt:lpstr>Revenue by Client Category</vt:lpstr>
      <vt:lpstr>Revenue by Country</vt:lpstr>
      <vt:lpstr>Top Products by Revenue </vt:lpstr>
      <vt:lpstr>Quarterly Revenue Trend</vt:lpstr>
      <vt:lpstr>Top Clients by Revenue</vt:lpstr>
      <vt:lpstr>Business Recommendations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bapanpalli</dc:creator>
  <cp:lastModifiedBy>nandini bapanpalli</cp:lastModifiedBy>
  <cp:revision>1</cp:revision>
  <dcterms:created xsi:type="dcterms:W3CDTF">2026-06-06T21:32:40Z</dcterms:created>
  <dcterms:modified xsi:type="dcterms:W3CDTF">2026-06-07T10:23:09Z</dcterms:modified>
</cp:coreProperties>
</file>